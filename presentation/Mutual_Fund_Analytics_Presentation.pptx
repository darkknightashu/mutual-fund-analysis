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hutosh Suryawanshi" initials="AS" lastIdx="2" clrIdx="0">
    <p:extLst>
      <p:ext uri="{19B8F6BF-5375-455C-9EA6-DF929625EA0E}">
        <p15:presenceInfo xmlns:p15="http://schemas.microsoft.com/office/powerpoint/2012/main" userId="955f1e2653e9360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BDFC3C-79DE-4417-82CB-3A78AD1B31B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96EBEDD-9804-4703-A404-9B4537331149}">
      <dgm:prSet phldrT="[Text]"/>
      <dgm:spPr/>
      <dgm:t>
        <a:bodyPr/>
        <a:lstStyle/>
        <a:p>
          <a:r>
            <a:rPr lang="en-IN" dirty="0"/>
            <a:t>Raw Data</a:t>
          </a:r>
        </a:p>
      </dgm:t>
    </dgm:pt>
    <dgm:pt modelId="{B0EC3816-C354-45A1-83A2-6024A9BFAD98}" type="parTrans" cxnId="{78400A17-4454-4222-9D9B-DC5CF3FC703D}">
      <dgm:prSet/>
      <dgm:spPr/>
      <dgm:t>
        <a:bodyPr/>
        <a:lstStyle/>
        <a:p>
          <a:endParaRPr lang="en-IN"/>
        </a:p>
      </dgm:t>
    </dgm:pt>
    <dgm:pt modelId="{E97E17A2-D8C8-4007-B08C-10A843773E2A}" type="sibTrans" cxnId="{78400A17-4454-4222-9D9B-DC5CF3FC703D}">
      <dgm:prSet/>
      <dgm:spPr/>
      <dgm:t>
        <a:bodyPr/>
        <a:lstStyle/>
        <a:p>
          <a:endParaRPr lang="en-IN"/>
        </a:p>
      </dgm:t>
    </dgm:pt>
    <dgm:pt modelId="{5F423F82-CDA3-4B46-A68C-0FAE8EA5BBF7}">
      <dgm:prSet phldrT="[Text]"/>
      <dgm:spPr/>
      <dgm:t>
        <a:bodyPr/>
        <a:lstStyle/>
        <a:p>
          <a:r>
            <a:rPr lang="en-IN" dirty="0"/>
            <a:t>Data Cleaning</a:t>
          </a:r>
        </a:p>
      </dgm:t>
    </dgm:pt>
    <dgm:pt modelId="{D452655A-E7F3-4633-B1C2-98752F8777C1}" type="parTrans" cxnId="{AC6765C4-DB92-4B16-ABF0-6BAB4F8EAB1F}">
      <dgm:prSet/>
      <dgm:spPr/>
      <dgm:t>
        <a:bodyPr/>
        <a:lstStyle/>
        <a:p>
          <a:endParaRPr lang="en-IN"/>
        </a:p>
      </dgm:t>
    </dgm:pt>
    <dgm:pt modelId="{F3E957D7-D0A0-41AA-90CA-99C6BF276FFE}" type="sibTrans" cxnId="{AC6765C4-DB92-4B16-ABF0-6BAB4F8EAB1F}">
      <dgm:prSet/>
      <dgm:spPr/>
      <dgm:t>
        <a:bodyPr/>
        <a:lstStyle/>
        <a:p>
          <a:endParaRPr lang="en-IN"/>
        </a:p>
      </dgm:t>
    </dgm:pt>
    <dgm:pt modelId="{834D1002-1B08-4A32-A762-373E7EA259D3}">
      <dgm:prSet phldrT="[Text]"/>
      <dgm:spPr/>
      <dgm:t>
        <a:bodyPr/>
        <a:lstStyle/>
        <a:p>
          <a:r>
            <a:rPr lang="en-IN" dirty="0"/>
            <a:t>SQLite Database</a:t>
          </a:r>
        </a:p>
      </dgm:t>
    </dgm:pt>
    <dgm:pt modelId="{1CB140D4-21B4-492F-AAE8-BDA185F2E2B9}" type="parTrans" cxnId="{C3A3A559-6E7C-41C0-83F6-83AE3DDC6D1A}">
      <dgm:prSet/>
      <dgm:spPr/>
      <dgm:t>
        <a:bodyPr/>
        <a:lstStyle/>
        <a:p>
          <a:endParaRPr lang="en-IN"/>
        </a:p>
      </dgm:t>
    </dgm:pt>
    <dgm:pt modelId="{F2CEA604-6755-4436-9F4C-9F2BB3E988F5}" type="sibTrans" cxnId="{C3A3A559-6E7C-41C0-83F6-83AE3DDC6D1A}">
      <dgm:prSet/>
      <dgm:spPr/>
      <dgm:t>
        <a:bodyPr/>
        <a:lstStyle/>
        <a:p>
          <a:endParaRPr lang="en-IN"/>
        </a:p>
      </dgm:t>
    </dgm:pt>
    <dgm:pt modelId="{7C31F4BD-3E1B-403C-8C50-AB4301FE5B1B}">
      <dgm:prSet phldrT="[Text]"/>
      <dgm:spPr/>
      <dgm:t>
        <a:bodyPr/>
        <a:lstStyle/>
        <a:p>
          <a:r>
            <a:rPr lang="en-IN" dirty="0"/>
            <a:t>Python Analytics</a:t>
          </a:r>
        </a:p>
      </dgm:t>
    </dgm:pt>
    <dgm:pt modelId="{33D759E8-CCC9-4C7D-ADCD-68A311F63DF3}" type="parTrans" cxnId="{B7094ACF-822D-4F23-A0F0-CFAA2FECB9E0}">
      <dgm:prSet/>
      <dgm:spPr/>
      <dgm:t>
        <a:bodyPr/>
        <a:lstStyle/>
        <a:p>
          <a:endParaRPr lang="en-IN"/>
        </a:p>
      </dgm:t>
    </dgm:pt>
    <dgm:pt modelId="{687D4EC3-C1E9-4837-91AE-2EB3E1B62E58}" type="sibTrans" cxnId="{B7094ACF-822D-4F23-A0F0-CFAA2FECB9E0}">
      <dgm:prSet/>
      <dgm:spPr/>
      <dgm:t>
        <a:bodyPr/>
        <a:lstStyle/>
        <a:p>
          <a:endParaRPr lang="en-IN"/>
        </a:p>
      </dgm:t>
    </dgm:pt>
    <dgm:pt modelId="{95D5A2E5-DCD4-4182-8E54-2C7EA2E487E0}">
      <dgm:prSet phldrT="[Text]"/>
      <dgm:spPr/>
      <dgm:t>
        <a:bodyPr/>
        <a:lstStyle/>
        <a:p>
          <a:r>
            <a:rPr lang="en-IN"/>
            <a:t>Power BI Dashboard</a:t>
          </a:r>
          <a:endParaRPr lang="en-IN" dirty="0"/>
        </a:p>
      </dgm:t>
    </dgm:pt>
    <dgm:pt modelId="{18036CDB-CF5F-4A4D-A97A-654C9AE49D71}" type="parTrans" cxnId="{7EEE1389-F70F-44CE-9EA7-E52BB8DEAF66}">
      <dgm:prSet/>
      <dgm:spPr/>
      <dgm:t>
        <a:bodyPr/>
        <a:lstStyle/>
        <a:p>
          <a:endParaRPr lang="en-IN"/>
        </a:p>
      </dgm:t>
    </dgm:pt>
    <dgm:pt modelId="{9FE7AA8A-611A-4FC8-8102-2841103B49A0}" type="sibTrans" cxnId="{7EEE1389-F70F-44CE-9EA7-E52BB8DEAF66}">
      <dgm:prSet/>
      <dgm:spPr/>
      <dgm:t>
        <a:bodyPr/>
        <a:lstStyle/>
        <a:p>
          <a:endParaRPr lang="en-IN"/>
        </a:p>
      </dgm:t>
    </dgm:pt>
    <dgm:pt modelId="{A9AF6921-D37F-4CFE-8F46-554570962167}">
      <dgm:prSet phldrT="[Text]"/>
      <dgm:spPr/>
      <dgm:t>
        <a:bodyPr/>
        <a:lstStyle/>
        <a:p>
          <a:r>
            <a:rPr lang="en-IN" dirty="0"/>
            <a:t>Business Insights</a:t>
          </a:r>
        </a:p>
      </dgm:t>
    </dgm:pt>
    <dgm:pt modelId="{6566A862-C916-464A-A01C-AB2EB32FE7F7}" type="parTrans" cxnId="{C5333638-5B0C-4158-8090-E2CB6BACDE17}">
      <dgm:prSet/>
      <dgm:spPr/>
      <dgm:t>
        <a:bodyPr/>
        <a:lstStyle/>
        <a:p>
          <a:endParaRPr lang="en-IN"/>
        </a:p>
      </dgm:t>
    </dgm:pt>
    <dgm:pt modelId="{50B6B45F-9B8D-45BC-99D9-C8BEB455409E}" type="sibTrans" cxnId="{C5333638-5B0C-4158-8090-E2CB6BACDE17}">
      <dgm:prSet/>
      <dgm:spPr/>
      <dgm:t>
        <a:bodyPr/>
        <a:lstStyle/>
        <a:p>
          <a:endParaRPr lang="en-IN"/>
        </a:p>
      </dgm:t>
    </dgm:pt>
    <dgm:pt modelId="{44006744-6F25-47A2-90F0-864E16A3F5B4}" type="pres">
      <dgm:prSet presAssocID="{78BDFC3C-79DE-4417-82CB-3A78AD1B31BB}" presName="Name0" presStyleCnt="0">
        <dgm:presLayoutVars>
          <dgm:dir/>
          <dgm:resizeHandles val="exact"/>
        </dgm:presLayoutVars>
      </dgm:prSet>
      <dgm:spPr/>
    </dgm:pt>
    <dgm:pt modelId="{FEB3A4C9-3F25-404E-8132-7C75761BCD97}" type="pres">
      <dgm:prSet presAssocID="{796EBEDD-9804-4703-A404-9B4537331149}" presName="node" presStyleLbl="node1" presStyleIdx="0" presStyleCnt="6">
        <dgm:presLayoutVars>
          <dgm:bulletEnabled val="1"/>
        </dgm:presLayoutVars>
      </dgm:prSet>
      <dgm:spPr/>
    </dgm:pt>
    <dgm:pt modelId="{213F434D-DC74-4345-9D0C-C257479404F2}" type="pres">
      <dgm:prSet presAssocID="{E97E17A2-D8C8-4007-B08C-10A843773E2A}" presName="sibTrans" presStyleLbl="sibTrans2D1" presStyleIdx="0" presStyleCnt="5"/>
      <dgm:spPr/>
    </dgm:pt>
    <dgm:pt modelId="{C0786B09-E079-43D6-B7D4-1F3D073442F4}" type="pres">
      <dgm:prSet presAssocID="{E97E17A2-D8C8-4007-B08C-10A843773E2A}" presName="connectorText" presStyleLbl="sibTrans2D1" presStyleIdx="0" presStyleCnt="5"/>
      <dgm:spPr/>
    </dgm:pt>
    <dgm:pt modelId="{48EDCC61-7947-49DD-8821-1B678EF7A440}" type="pres">
      <dgm:prSet presAssocID="{5F423F82-CDA3-4B46-A68C-0FAE8EA5BBF7}" presName="node" presStyleLbl="node1" presStyleIdx="1" presStyleCnt="6">
        <dgm:presLayoutVars>
          <dgm:bulletEnabled val="1"/>
        </dgm:presLayoutVars>
      </dgm:prSet>
      <dgm:spPr/>
    </dgm:pt>
    <dgm:pt modelId="{C37056C5-837F-43FE-BF26-B30157BE9335}" type="pres">
      <dgm:prSet presAssocID="{F3E957D7-D0A0-41AA-90CA-99C6BF276FFE}" presName="sibTrans" presStyleLbl="sibTrans2D1" presStyleIdx="1" presStyleCnt="5"/>
      <dgm:spPr/>
    </dgm:pt>
    <dgm:pt modelId="{36FC9A7B-DC5E-4327-8C62-C5FFAB34FB70}" type="pres">
      <dgm:prSet presAssocID="{F3E957D7-D0A0-41AA-90CA-99C6BF276FFE}" presName="connectorText" presStyleLbl="sibTrans2D1" presStyleIdx="1" presStyleCnt="5"/>
      <dgm:spPr/>
    </dgm:pt>
    <dgm:pt modelId="{A060B1C1-E1D8-43BB-A234-AC728D1FA817}" type="pres">
      <dgm:prSet presAssocID="{834D1002-1B08-4A32-A762-373E7EA259D3}" presName="node" presStyleLbl="node1" presStyleIdx="2" presStyleCnt="6" custLinFactNeighborX="11542" custLinFactNeighborY="-4197">
        <dgm:presLayoutVars>
          <dgm:bulletEnabled val="1"/>
        </dgm:presLayoutVars>
      </dgm:prSet>
      <dgm:spPr/>
    </dgm:pt>
    <dgm:pt modelId="{3BF2E8F5-BE54-4A43-A143-4E655052901F}" type="pres">
      <dgm:prSet presAssocID="{F2CEA604-6755-4436-9F4C-9F2BB3E988F5}" presName="sibTrans" presStyleLbl="sibTrans2D1" presStyleIdx="2" presStyleCnt="5"/>
      <dgm:spPr/>
    </dgm:pt>
    <dgm:pt modelId="{DFF8A401-B4DC-421F-BF0E-81437DBC533B}" type="pres">
      <dgm:prSet presAssocID="{F2CEA604-6755-4436-9F4C-9F2BB3E988F5}" presName="connectorText" presStyleLbl="sibTrans2D1" presStyleIdx="2" presStyleCnt="5"/>
      <dgm:spPr/>
    </dgm:pt>
    <dgm:pt modelId="{16AEE8FA-0438-42C4-A90C-BA07F7A43C81}" type="pres">
      <dgm:prSet presAssocID="{7C31F4BD-3E1B-403C-8C50-AB4301FE5B1B}" presName="node" presStyleLbl="node1" presStyleIdx="3" presStyleCnt="6">
        <dgm:presLayoutVars>
          <dgm:bulletEnabled val="1"/>
        </dgm:presLayoutVars>
      </dgm:prSet>
      <dgm:spPr/>
    </dgm:pt>
    <dgm:pt modelId="{36906425-3B68-46A0-8460-D18775559772}" type="pres">
      <dgm:prSet presAssocID="{687D4EC3-C1E9-4837-91AE-2EB3E1B62E58}" presName="sibTrans" presStyleLbl="sibTrans2D1" presStyleIdx="3" presStyleCnt="5"/>
      <dgm:spPr/>
    </dgm:pt>
    <dgm:pt modelId="{8598055D-FEB6-4903-9ACC-8DB42644AE7B}" type="pres">
      <dgm:prSet presAssocID="{687D4EC3-C1E9-4837-91AE-2EB3E1B62E58}" presName="connectorText" presStyleLbl="sibTrans2D1" presStyleIdx="3" presStyleCnt="5"/>
      <dgm:spPr/>
    </dgm:pt>
    <dgm:pt modelId="{6695F6F0-E1FF-4788-9085-09EE85EC61A1}" type="pres">
      <dgm:prSet presAssocID="{95D5A2E5-DCD4-4182-8E54-2C7EA2E487E0}" presName="node" presStyleLbl="node1" presStyleIdx="4" presStyleCnt="6">
        <dgm:presLayoutVars>
          <dgm:bulletEnabled val="1"/>
        </dgm:presLayoutVars>
      </dgm:prSet>
      <dgm:spPr/>
    </dgm:pt>
    <dgm:pt modelId="{5479C3AA-E6FD-45F0-87D6-2750EB4E25E2}" type="pres">
      <dgm:prSet presAssocID="{9FE7AA8A-611A-4FC8-8102-2841103B49A0}" presName="sibTrans" presStyleLbl="sibTrans2D1" presStyleIdx="4" presStyleCnt="5"/>
      <dgm:spPr/>
    </dgm:pt>
    <dgm:pt modelId="{3BA4D557-3B2D-46DA-8BA6-64A8256354DB}" type="pres">
      <dgm:prSet presAssocID="{9FE7AA8A-611A-4FC8-8102-2841103B49A0}" presName="connectorText" presStyleLbl="sibTrans2D1" presStyleIdx="4" presStyleCnt="5"/>
      <dgm:spPr/>
    </dgm:pt>
    <dgm:pt modelId="{B4608AC5-D4AD-49ED-BF5C-7D1968C10C77}" type="pres">
      <dgm:prSet presAssocID="{A9AF6921-D37F-4CFE-8F46-554570962167}" presName="node" presStyleLbl="node1" presStyleIdx="5" presStyleCnt="6">
        <dgm:presLayoutVars>
          <dgm:bulletEnabled val="1"/>
        </dgm:presLayoutVars>
      </dgm:prSet>
      <dgm:spPr/>
    </dgm:pt>
  </dgm:ptLst>
  <dgm:cxnLst>
    <dgm:cxn modelId="{78400A17-4454-4222-9D9B-DC5CF3FC703D}" srcId="{78BDFC3C-79DE-4417-82CB-3A78AD1B31BB}" destId="{796EBEDD-9804-4703-A404-9B4537331149}" srcOrd="0" destOrd="0" parTransId="{B0EC3816-C354-45A1-83A2-6024A9BFAD98}" sibTransId="{E97E17A2-D8C8-4007-B08C-10A843773E2A}"/>
    <dgm:cxn modelId="{9474A321-E418-4755-A38B-25F1766F741B}" type="presOf" srcId="{F3E957D7-D0A0-41AA-90CA-99C6BF276FFE}" destId="{C37056C5-837F-43FE-BF26-B30157BE9335}" srcOrd="0" destOrd="0" presId="urn:microsoft.com/office/officeart/2005/8/layout/process1"/>
    <dgm:cxn modelId="{4044BB21-7D63-4DD4-855B-C95372FF490D}" type="presOf" srcId="{E97E17A2-D8C8-4007-B08C-10A843773E2A}" destId="{C0786B09-E079-43D6-B7D4-1F3D073442F4}" srcOrd="1" destOrd="0" presId="urn:microsoft.com/office/officeart/2005/8/layout/process1"/>
    <dgm:cxn modelId="{55A15632-DA66-4EB4-85AA-84B5DAE798EB}" type="presOf" srcId="{F2CEA604-6755-4436-9F4C-9F2BB3E988F5}" destId="{3BF2E8F5-BE54-4A43-A143-4E655052901F}" srcOrd="0" destOrd="0" presId="urn:microsoft.com/office/officeart/2005/8/layout/process1"/>
    <dgm:cxn modelId="{C5333638-5B0C-4158-8090-E2CB6BACDE17}" srcId="{78BDFC3C-79DE-4417-82CB-3A78AD1B31BB}" destId="{A9AF6921-D37F-4CFE-8F46-554570962167}" srcOrd="5" destOrd="0" parTransId="{6566A862-C916-464A-A01C-AB2EB32FE7F7}" sibTransId="{50B6B45F-9B8D-45BC-99D9-C8BEB455409E}"/>
    <dgm:cxn modelId="{16A67140-4A58-4847-81EF-38B5D57CD1A5}" type="presOf" srcId="{95D5A2E5-DCD4-4182-8E54-2C7EA2E487E0}" destId="{6695F6F0-E1FF-4788-9085-09EE85EC61A1}" srcOrd="0" destOrd="0" presId="urn:microsoft.com/office/officeart/2005/8/layout/process1"/>
    <dgm:cxn modelId="{3344F354-453B-4EC8-ACCA-6CC5B5B54BF1}" type="presOf" srcId="{F2CEA604-6755-4436-9F4C-9F2BB3E988F5}" destId="{DFF8A401-B4DC-421F-BF0E-81437DBC533B}" srcOrd="1" destOrd="0" presId="urn:microsoft.com/office/officeart/2005/8/layout/process1"/>
    <dgm:cxn modelId="{84909E75-7EE6-48F4-B801-197AC0C09DDE}" type="presOf" srcId="{5F423F82-CDA3-4B46-A68C-0FAE8EA5BBF7}" destId="{48EDCC61-7947-49DD-8821-1B678EF7A440}" srcOrd="0" destOrd="0" presId="urn:microsoft.com/office/officeart/2005/8/layout/process1"/>
    <dgm:cxn modelId="{698B8477-41F6-463E-82E9-C0CA86A3AFA5}" type="presOf" srcId="{796EBEDD-9804-4703-A404-9B4537331149}" destId="{FEB3A4C9-3F25-404E-8132-7C75761BCD97}" srcOrd="0" destOrd="0" presId="urn:microsoft.com/office/officeart/2005/8/layout/process1"/>
    <dgm:cxn modelId="{C3A3A559-6E7C-41C0-83F6-83AE3DDC6D1A}" srcId="{78BDFC3C-79DE-4417-82CB-3A78AD1B31BB}" destId="{834D1002-1B08-4A32-A762-373E7EA259D3}" srcOrd="2" destOrd="0" parTransId="{1CB140D4-21B4-492F-AAE8-BDA185F2E2B9}" sibTransId="{F2CEA604-6755-4436-9F4C-9F2BB3E988F5}"/>
    <dgm:cxn modelId="{7EEE1389-F70F-44CE-9EA7-E52BB8DEAF66}" srcId="{78BDFC3C-79DE-4417-82CB-3A78AD1B31BB}" destId="{95D5A2E5-DCD4-4182-8E54-2C7EA2E487E0}" srcOrd="4" destOrd="0" parTransId="{18036CDB-CF5F-4A4D-A97A-654C9AE49D71}" sibTransId="{9FE7AA8A-611A-4FC8-8102-2841103B49A0}"/>
    <dgm:cxn modelId="{06A492A1-B3DD-4659-9FDA-90B6902D0536}" type="presOf" srcId="{9FE7AA8A-611A-4FC8-8102-2841103B49A0}" destId="{5479C3AA-E6FD-45F0-87D6-2750EB4E25E2}" srcOrd="0" destOrd="0" presId="urn:microsoft.com/office/officeart/2005/8/layout/process1"/>
    <dgm:cxn modelId="{23596BA6-64A9-4D6F-BB01-8786B40C5AAD}" type="presOf" srcId="{9FE7AA8A-611A-4FC8-8102-2841103B49A0}" destId="{3BA4D557-3B2D-46DA-8BA6-64A8256354DB}" srcOrd="1" destOrd="0" presId="urn:microsoft.com/office/officeart/2005/8/layout/process1"/>
    <dgm:cxn modelId="{D8EEF0B0-B72B-49A3-8BB1-5E6BF054B76A}" type="presOf" srcId="{A9AF6921-D37F-4CFE-8F46-554570962167}" destId="{B4608AC5-D4AD-49ED-BF5C-7D1968C10C77}" srcOrd="0" destOrd="0" presId="urn:microsoft.com/office/officeart/2005/8/layout/process1"/>
    <dgm:cxn modelId="{669F32B5-FDE4-4B1C-9619-6D321A33D089}" type="presOf" srcId="{E97E17A2-D8C8-4007-B08C-10A843773E2A}" destId="{213F434D-DC74-4345-9D0C-C257479404F2}" srcOrd="0" destOrd="0" presId="urn:microsoft.com/office/officeart/2005/8/layout/process1"/>
    <dgm:cxn modelId="{AC6765C4-DB92-4B16-ABF0-6BAB4F8EAB1F}" srcId="{78BDFC3C-79DE-4417-82CB-3A78AD1B31BB}" destId="{5F423F82-CDA3-4B46-A68C-0FAE8EA5BBF7}" srcOrd="1" destOrd="0" parTransId="{D452655A-E7F3-4633-B1C2-98752F8777C1}" sibTransId="{F3E957D7-D0A0-41AA-90CA-99C6BF276FFE}"/>
    <dgm:cxn modelId="{B7094ACF-822D-4F23-A0F0-CFAA2FECB9E0}" srcId="{78BDFC3C-79DE-4417-82CB-3A78AD1B31BB}" destId="{7C31F4BD-3E1B-403C-8C50-AB4301FE5B1B}" srcOrd="3" destOrd="0" parTransId="{33D759E8-CCC9-4C7D-ADCD-68A311F63DF3}" sibTransId="{687D4EC3-C1E9-4837-91AE-2EB3E1B62E58}"/>
    <dgm:cxn modelId="{B0F2B7CF-66BC-4940-A5B4-54CD05F609F6}" type="presOf" srcId="{834D1002-1B08-4A32-A762-373E7EA259D3}" destId="{A060B1C1-E1D8-43BB-A234-AC728D1FA817}" srcOrd="0" destOrd="0" presId="urn:microsoft.com/office/officeart/2005/8/layout/process1"/>
    <dgm:cxn modelId="{726704D7-374F-470B-B211-20291F800D20}" type="presOf" srcId="{78BDFC3C-79DE-4417-82CB-3A78AD1B31BB}" destId="{44006744-6F25-47A2-90F0-864E16A3F5B4}" srcOrd="0" destOrd="0" presId="urn:microsoft.com/office/officeart/2005/8/layout/process1"/>
    <dgm:cxn modelId="{B9E370E6-6EBD-49AA-944E-38514C958E7F}" type="presOf" srcId="{687D4EC3-C1E9-4837-91AE-2EB3E1B62E58}" destId="{36906425-3B68-46A0-8460-D18775559772}" srcOrd="0" destOrd="0" presId="urn:microsoft.com/office/officeart/2005/8/layout/process1"/>
    <dgm:cxn modelId="{3BD97BEA-633B-4C3A-8BA5-DC8CF05CF03F}" type="presOf" srcId="{F3E957D7-D0A0-41AA-90CA-99C6BF276FFE}" destId="{36FC9A7B-DC5E-4327-8C62-C5FFAB34FB70}" srcOrd="1" destOrd="0" presId="urn:microsoft.com/office/officeart/2005/8/layout/process1"/>
    <dgm:cxn modelId="{F1677BEB-41A0-434D-96CA-FB375E721106}" type="presOf" srcId="{687D4EC3-C1E9-4837-91AE-2EB3E1B62E58}" destId="{8598055D-FEB6-4903-9ACC-8DB42644AE7B}" srcOrd="1" destOrd="0" presId="urn:microsoft.com/office/officeart/2005/8/layout/process1"/>
    <dgm:cxn modelId="{D1C249ED-54EE-4073-A3ED-907CC28FBDD1}" type="presOf" srcId="{7C31F4BD-3E1B-403C-8C50-AB4301FE5B1B}" destId="{16AEE8FA-0438-42C4-A90C-BA07F7A43C81}" srcOrd="0" destOrd="0" presId="urn:microsoft.com/office/officeart/2005/8/layout/process1"/>
    <dgm:cxn modelId="{B6DD7F76-58C0-4472-B5E1-D3724D3B608C}" type="presParOf" srcId="{44006744-6F25-47A2-90F0-864E16A3F5B4}" destId="{FEB3A4C9-3F25-404E-8132-7C75761BCD97}" srcOrd="0" destOrd="0" presId="urn:microsoft.com/office/officeart/2005/8/layout/process1"/>
    <dgm:cxn modelId="{3D3C68F6-6B55-41E1-A467-49B6A942DBF4}" type="presParOf" srcId="{44006744-6F25-47A2-90F0-864E16A3F5B4}" destId="{213F434D-DC74-4345-9D0C-C257479404F2}" srcOrd="1" destOrd="0" presId="urn:microsoft.com/office/officeart/2005/8/layout/process1"/>
    <dgm:cxn modelId="{7B025D28-13B9-44AE-876C-2B0C0C53ADCB}" type="presParOf" srcId="{213F434D-DC74-4345-9D0C-C257479404F2}" destId="{C0786B09-E079-43D6-B7D4-1F3D073442F4}" srcOrd="0" destOrd="0" presId="urn:microsoft.com/office/officeart/2005/8/layout/process1"/>
    <dgm:cxn modelId="{834C220D-95C8-4769-ADE7-5C44E0F5CCB9}" type="presParOf" srcId="{44006744-6F25-47A2-90F0-864E16A3F5B4}" destId="{48EDCC61-7947-49DD-8821-1B678EF7A440}" srcOrd="2" destOrd="0" presId="urn:microsoft.com/office/officeart/2005/8/layout/process1"/>
    <dgm:cxn modelId="{21893CC2-ACFE-4735-87E8-DEE1AEFFDD6D}" type="presParOf" srcId="{44006744-6F25-47A2-90F0-864E16A3F5B4}" destId="{C37056C5-837F-43FE-BF26-B30157BE9335}" srcOrd="3" destOrd="0" presId="urn:microsoft.com/office/officeart/2005/8/layout/process1"/>
    <dgm:cxn modelId="{7C0D5A7D-DC29-499D-83C8-18BEF3F0B106}" type="presParOf" srcId="{C37056C5-837F-43FE-BF26-B30157BE9335}" destId="{36FC9A7B-DC5E-4327-8C62-C5FFAB34FB70}" srcOrd="0" destOrd="0" presId="urn:microsoft.com/office/officeart/2005/8/layout/process1"/>
    <dgm:cxn modelId="{441B9021-7E82-486D-8547-33B239AE3F17}" type="presParOf" srcId="{44006744-6F25-47A2-90F0-864E16A3F5B4}" destId="{A060B1C1-E1D8-43BB-A234-AC728D1FA817}" srcOrd="4" destOrd="0" presId="urn:microsoft.com/office/officeart/2005/8/layout/process1"/>
    <dgm:cxn modelId="{9413FCC2-8A2A-43A8-B87E-039DA9718FE4}" type="presParOf" srcId="{44006744-6F25-47A2-90F0-864E16A3F5B4}" destId="{3BF2E8F5-BE54-4A43-A143-4E655052901F}" srcOrd="5" destOrd="0" presId="urn:microsoft.com/office/officeart/2005/8/layout/process1"/>
    <dgm:cxn modelId="{11AEB913-FEF9-49A5-B503-D3A83BCD2348}" type="presParOf" srcId="{3BF2E8F5-BE54-4A43-A143-4E655052901F}" destId="{DFF8A401-B4DC-421F-BF0E-81437DBC533B}" srcOrd="0" destOrd="0" presId="urn:microsoft.com/office/officeart/2005/8/layout/process1"/>
    <dgm:cxn modelId="{7793F13C-A71E-4B24-B720-C9AA82C5B087}" type="presParOf" srcId="{44006744-6F25-47A2-90F0-864E16A3F5B4}" destId="{16AEE8FA-0438-42C4-A90C-BA07F7A43C81}" srcOrd="6" destOrd="0" presId="urn:microsoft.com/office/officeart/2005/8/layout/process1"/>
    <dgm:cxn modelId="{B2B24104-65AE-43DD-B967-2CAF0DED1747}" type="presParOf" srcId="{44006744-6F25-47A2-90F0-864E16A3F5B4}" destId="{36906425-3B68-46A0-8460-D18775559772}" srcOrd="7" destOrd="0" presId="urn:microsoft.com/office/officeart/2005/8/layout/process1"/>
    <dgm:cxn modelId="{F29D511C-6CE4-48EC-BADD-85F69AA13616}" type="presParOf" srcId="{36906425-3B68-46A0-8460-D18775559772}" destId="{8598055D-FEB6-4903-9ACC-8DB42644AE7B}" srcOrd="0" destOrd="0" presId="urn:microsoft.com/office/officeart/2005/8/layout/process1"/>
    <dgm:cxn modelId="{ED33BAC7-FDFF-4171-A478-11B31BB703F3}" type="presParOf" srcId="{44006744-6F25-47A2-90F0-864E16A3F5B4}" destId="{6695F6F0-E1FF-4788-9085-09EE85EC61A1}" srcOrd="8" destOrd="0" presId="urn:microsoft.com/office/officeart/2005/8/layout/process1"/>
    <dgm:cxn modelId="{2E1A54E4-4F7C-49F7-AF1A-2CD8DD6D2F1C}" type="presParOf" srcId="{44006744-6F25-47A2-90F0-864E16A3F5B4}" destId="{5479C3AA-E6FD-45F0-87D6-2750EB4E25E2}" srcOrd="9" destOrd="0" presId="urn:microsoft.com/office/officeart/2005/8/layout/process1"/>
    <dgm:cxn modelId="{95293F45-A047-4BE4-8FEA-51241C461AFB}" type="presParOf" srcId="{5479C3AA-E6FD-45F0-87D6-2750EB4E25E2}" destId="{3BA4D557-3B2D-46DA-8BA6-64A8256354DB}" srcOrd="0" destOrd="0" presId="urn:microsoft.com/office/officeart/2005/8/layout/process1"/>
    <dgm:cxn modelId="{666C5ABF-2AEC-482F-8180-205F0912030C}" type="presParOf" srcId="{44006744-6F25-47A2-90F0-864E16A3F5B4}" destId="{B4608AC5-D4AD-49ED-BF5C-7D1968C10C77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3A4C9-3F25-404E-8132-7C75761BCD97}">
      <dsp:nvSpPr>
        <dsp:cNvPr id="0" name=""/>
        <dsp:cNvSpPr/>
      </dsp:nvSpPr>
      <dsp:spPr>
        <a:xfrm>
          <a:off x="0" y="975875"/>
          <a:ext cx="1356121" cy="813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Raw Data</a:t>
          </a:r>
        </a:p>
      </dsp:txBody>
      <dsp:txXfrm>
        <a:off x="23832" y="999707"/>
        <a:ext cx="1308457" cy="766009"/>
      </dsp:txXfrm>
    </dsp:sp>
    <dsp:sp modelId="{213F434D-DC74-4345-9D0C-C257479404F2}">
      <dsp:nvSpPr>
        <dsp:cNvPr id="0" name=""/>
        <dsp:cNvSpPr/>
      </dsp:nvSpPr>
      <dsp:spPr>
        <a:xfrm>
          <a:off x="1491734" y="1214553"/>
          <a:ext cx="287497" cy="336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1491734" y="1281817"/>
        <a:ext cx="201248" cy="201790"/>
      </dsp:txXfrm>
    </dsp:sp>
    <dsp:sp modelId="{48EDCC61-7947-49DD-8821-1B678EF7A440}">
      <dsp:nvSpPr>
        <dsp:cNvPr id="0" name=""/>
        <dsp:cNvSpPr/>
      </dsp:nvSpPr>
      <dsp:spPr>
        <a:xfrm>
          <a:off x="1898570" y="975875"/>
          <a:ext cx="1356121" cy="813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Data Cleaning</a:t>
          </a:r>
        </a:p>
      </dsp:txBody>
      <dsp:txXfrm>
        <a:off x="1922402" y="999707"/>
        <a:ext cx="1308457" cy="766009"/>
      </dsp:txXfrm>
    </dsp:sp>
    <dsp:sp modelId="{C37056C5-837F-43FE-BF26-B30157BE9335}">
      <dsp:nvSpPr>
        <dsp:cNvPr id="0" name=""/>
        <dsp:cNvSpPr/>
      </dsp:nvSpPr>
      <dsp:spPr>
        <a:xfrm rot="21540145">
          <a:off x="3405932" y="1197320"/>
          <a:ext cx="320729" cy="336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3405939" y="1265422"/>
        <a:ext cx="224510" cy="201790"/>
      </dsp:txXfrm>
    </dsp:sp>
    <dsp:sp modelId="{A060B1C1-E1D8-43BB-A234-AC728D1FA817}">
      <dsp:nvSpPr>
        <dsp:cNvPr id="0" name=""/>
        <dsp:cNvSpPr/>
      </dsp:nvSpPr>
      <dsp:spPr>
        <a:xfrm>
          <a:off x="3859750" y="941726"/>
          <a:ext cx="1356121" cy="813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SQLite Database</a:t>
          </a:r>
        </a:p>
      </dsp:txBody>
      <dsp:txXfrm>
        <a:off x="3883582" y="965558"/>
        <a:ext cx="1308457" cy="766009"/>
      </dsp:txXfrm>
    </dsp:sp>
    <dsp:sp modelId="{3BF2E8F5-BE54-4A43-A143-4E655052901F}">
      <dsp:nvSpPr>
        <dsp:cNvPr id="0" name=""/>
        <dsp:cNvSpPr/>
      </dsp:nvSpPr>
      <dsp:spPr>
        <a:xfrm rot="63937">
          <a:off x="5335810" y="1197612"/>
          <a:ext cx="254358" cy="336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5335817" y="1264166"/>
        <a:ext cx="178051" cy="201790"/>
      </dsp:txXfrm>
    </dsp:sp>
    <dsp:sp modelId="{16AEE8FA-0438-42C4-A90C-BA07F7A43C81}">
      <dsp:nvSpPr>
        <dsp:cNvPr id="0" name=""/>
        <dsp:cNvSpPr/>
      </dsp:nvSpPr>
      <dsp:spPr>
        <a:xfrm>
          <a:off x="5695711" y="975875"/>
          <a:ext cx="1356121" cy="813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Python Analytics</a:t>
          </a:r>
        </a:p>
      </dsp:txBody>
      <dsp:txXfrm>
        <a:off x="5719543" y="999707"/>
        <a:ext cx="1308457" cy="766009"/>
      </dsp:txXfrm>
    </dsp:sp>
    <dsp:sp modelId="{36906425-3B68-46A0-8460-D18775559772}">
      <dsp:nvSpPr>
        <dsp:cNvPr id="0" name=""/>
        <dsp:cNvSpPr/>
      </dsp:nvSpPr>
      <dsp:spPr>
        <a:xfrm>
          <a:off x="7187445" y="1214553"/>
          <a:ext cx="287497" cy="336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7187445" y="1281817"/>
        <a:ext cx="201248" cy="201790"/>
      </dsp:txXfrm>
    </dsp:sp>
    <dsp:sp modelId="{6695F6F0-E1FF-4788-9085-09EE85EC61A1}">
      <dsp:nvSpPr>
        <dsp:cNvPr id="0" name=""/>
        <dsp:cNvSpPr/>
      </dsp:nvSpPr>
      <dsp:spPr>
        <a:xfrm>
          <a:off x="7594282" y="975875"/>
          <a:ext cx="1356121" cy="813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Power BI Dashboard</a:t>
          </a:r>
          <a:endParaRPr lang="en-IN" sz="2000" kern="1200" dirty="0"/>
        </a:p>
      </dsp:txBody>
      <dsp:txXfrm>
        <a:off x="7618114" y="999707"/>
        <a:ext cx="1308457" cy="766009"/>
      </dsp:txXfrm>
    </dsp:sp>
    <dsp:sp modelId="{5479C3AA-E6FD-45F0-87D6-2750EB4E25E2}">
      <dsp:nvSpPr>
        <dsp:cNvPr id="0" name=""/>
        <dsp:cNvSpPr/>
      </dsp:nvSpPr>
      <dsp:spPr>
        <a:xfrm>
          <a:off x="9086016" y="1214553"/>
          <a:ext cx="287497" cy="336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9086016" y="1281817"/>
        <a:ext cx="201248" cy="201790"/>
      </dsp:txXfrm>
    </dsp:sp>
    <dsp:sp modelId="{B4608AC5-D4AD-49ED-BF5C-7D1968C10C77}">
      <dsp:nvSpPr>
        <dsp:cNvPr id="0" name=""/>
        <dsp:cNvSpPr/>
      </dsp:nvSpPr>
      <dsp:spPr>
        <a:xfrm>
          <a:off x="9492853" y="975875"/>
          <a:ext cx="1356121" cy="813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Business Insights</a:t>
          </a:r>
        </a:p>
      </dsp:txBody>
      <dsp:txXfrm>
        <a:off x="9516685" y="999707"/>
        <a:ext cx="1308457" cy="766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4A99F-4A69-6F9C-C3C9-D3935FB12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C38A0-1AB4-08FE-E4C0-052F19F16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C55A4-5F03-ED70-3694-DF1CBF16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0303-C9D6-4EEA-962E-B072DD5FE914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B7981-AF7D-979C-E318-E9124041C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0908F-ABF6-D417-C2D6-E766CF0C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AC38-0EAA-449C-BCBF-151D1F754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09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D938-031D-EDE5-3442-6A9311D2C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BC814-13AA-C5ED-DDFD-AA4917363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A03F3-E4F4-AA99-54B5-A23A9043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0303-C9D6-4EEA-962E-B072DD5FE914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B4D3A-2DB4-4843-14C9-96F57F6EB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A494D-FA43-3C27-E175-98E26AD2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AC38-0EAA-449C-BCBF-151D1F754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192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CD9CA-0552-D513-75DB-C23AA0CF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36BF4-BF3E-D27C-CFD5-B099D5ADB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2028-F304-193D-2FE1-1F6812EE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0303-C9D6-4EEA-962E-B072DD5FE914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D44E6-543B-5D4D-EA14-8724FBB7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2C4FF-9DA2-6300-F1A9-BC16A0F5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AC38-0EAA-449C-BCBF-151D1F754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D510-4858-865E-29B9-885C1A0A5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FE12D-4C94-A519-8479-3CD566AB3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4DFD6-7C8F-356C-FE21-629F92823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62142-E044-71C1-345C-5E43DDB2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0303-C9D6-4EEA-962E-B072DD5FE914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96932-D7E9-88A5-E6BB-DD462C69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935FB-946A-10EA-1CDE-4708BD6E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AC38-0EAA-449C-BCBF-151D1F754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22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4542-75E8-67D5-D1A3-74C28FB9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C742E-60F2-AE17-5143-8DA2C56C1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CCFEA-1419-D806-78E7-409ACBC16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2A2CD-73C2-A7E3-1E68-A77C58FC1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05E08-7C13-0CBF-D304-17872E2CA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F049B-0A23-B6D9-4B8E-38F06C51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0303-C9D6-4EEA-962E-B072DD5FE914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1C0C9-057C-CB85-6556-176499B56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9A11AC-046F-6DC0-02D9-A3247EDD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AC38-0EAA-449C-BCBF-151D1F754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778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9A11-30E6-430F-EA13-0794B5B36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95DB1A-C0BA-4E9C-A0E6-4FE1DE79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0303-C9D6-4EEA-962E-B072DD5FE914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EF045-C05C-328B-B6C3-6ACDC7C70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1CF15-23EC-755D-0237-3F6FD7E99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AC38-0EAA-449C-BCBF-151D1F754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00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B51480-9192-2C69-102D-F7D76FA2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0303-C9D6-4EEA-962E-B072DD5FE914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1985F-EF33-AF05-8482-9E3CBCE7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3FA5C-F720-B1E0-3685-BA36DB4B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AC38-0EAA-449C-BCBF-151D1F754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216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500C-53C9-2660-170D-C12C5E201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CBCCE-4364-D094-0058-CA9C8E5D6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FBE06-72EC-BCC6-409D-BCF4996A1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DE898-8DD9-48E9-2D83-66F78DDC4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0303-C9D6-4EEA-962E-B072DD5FE914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98F79-9D3B-84C1-B82E-7792CDEDF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64B2C-911D-0299-7F0D-ABDA63FC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AC38-0EAA-449C-BCBF-151D1F754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199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EEA42-E3FE-47DE-16F2-9236756B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E1FAED-93FE-9E9B-CC4B-1BE722A63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30EDF-DB6F-7977-7661-2FC0B7010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87F4F-7E23-D10F-89FB-D5A2AC64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0303-C9D6-4EEA-962E-B072DD5FE914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DA607-4DCF-0F8D-E230-B45A5F58C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AEFF6-8259-8C44-DCD3-5E355D6A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AC38-0EAA-449C-BCBF-151D1F754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38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EBD76-A0A8-B01F-A0BE-6B8E9F0B2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A23CF5-45EB-C917-E49F-4BA3F4325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C47B0-4E46-8EC3-497E-306CFDBA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0303-C9D6-4EEA-962E-B072DD5FE914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FF369-4173-B02B-476A-A95A19E0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5E3ED-9959-E347-AB99-E439D6624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AC38-0EAA-449C-BCBF-151D1F754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810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A5691A-10FA-8DBE-39B1-A4A98F17EC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8C710-FBD0-6562-2163-7A004D5E5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3F71C-0244-2F7C-1750-DBBBB1FB7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0303-C9D6-4EEA-962E-B072DD5FE914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75660-8EFE-6F01-1B59-8BE160B8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55E76-7874-6484-A409-DA068C8A3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AC38-0EAA-449C-BCBF-151D1F754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07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9E5CA9-4C3B-18FB-091A-8AE33B179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EFB85-83EF-AF27-B5C8-C9F915546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9A0F0-F2ED-A28C-73EF-E3EB54F27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10303-C9D6-4EEA-962E-B072DD5FE914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FC54C-BE12-5463-9357-940B32C43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A6AEA-4F96-3668-D4D7-F7BA730F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9AC38-0EAA-449C-BCBF-151D1F754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54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E0BA-7145-23AB-6383-48A227C6C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7902804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Mutual Fund Performance, Risk &amp; Investor Analytics Platform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4E83A-3154-0902-CBCD-5CB31D96B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002" y="3941403"/>
            <a:ext cx="9144000" cy="1655762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Data Analyst Internship Project</a:t>
            </a:r>
          </a:p>
          <a:p>
            <a:endParaRPr lang="en-IN" dirty="0"/>
          </a:p>
          <a:p>
            <a:r>
              <a:rPr lang="en-IN" dirty="0"/>
              <a:t>Name: Ashutosh Suryawanshi</a:t>
            </a:r>
          </a:p>
          <a:p>
            <a:r>
              <a:rPr lang="en-IN" dirty="0"/>
              <a:t>June 2026</a:t>
            </a:r>
          </a:p>
          <a:p>
            <a:endParaRPr lang="en-IN" dirty="0"/>
          </a:p>
          <a:p>
            <a:r>
              <a:rPr lang="en-IN" dirty="0"/>
              <a:t>Python | SQLite | Power BI</a:t>
            </a:r>
          </a:p>
        </p:txBody>
      </p:sp>
    </p:spTree>
    <p:extLst>
      <p:ext uri="{BB962C8B-B14F-4D97-AF65-F5344CB8AC3E}">
        <p14:creationId xmlns:p14="http://schemas.microsoft.com/office/powerpoint/2010/main" val="233452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B7F62-D173-AEEB-7B3C-A0BC8B57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C3612-77BA-54DD-F0ED-42F5F3805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Large volume of mutual fund data</a:t>
            </a:r>
          </a:p>
          <a:p>
            <a:r>
              <a:rPr lang="en-US" dirty="0"/>
              <a:t>• Difficulty tracking performance</a:t>
            </a:r>
          </a:p>
          <a:p>
            <a:r>
              <a:rPr lang="en-US" dirty="0"/>
              <a:t>• Need for risk-adjusted evaluation</a:t>
            </a:r>
          </a:p>
          <a:p>
            <a:r>
              <a:rPr lang="en-US" dirty="0"/>
              <a:t>• Limited investor retention insights</a:t>
            </a:r>
          </a:p>
          <a:p>
            <a:endParaRPr lang="en-US" dirty="0"/>
          </a:p>
          <a:p>
            <a:r>
              <a:rPr lang="en-US" dirty="0"/>
              <a:t>Objective:</a:t>
            </a:r>
          </a:p>
          <a:p>
            <a:r>
              <a:rPr lang="en-US" dirty="0"/>
              <a:t>Build an end-to-end analytics platform for performance,</a:t>
            </a:r>
          </a:p>
          <a:p>
            <a:r>
              <a:rPr lang="en-US" dirty="0"/>
              <a:t>risk, and investor behavior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208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C62A-C39C-37DB-D3B6-F383DA727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77950"/>
          </a:xfrm>
        </p:spPr>
        <p:txBody>
          <a:bodyPr/>
          <a:lstStyle/>
          <a:p>
            <a:r>
              <a:rPr lang="en-IN" dirty="0"/>
              <a:t>Project 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CC6548-4484-EDAD-55F6-D208D3F9B8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4254020"/>
              </p:ext>
            </p:extLst>
          </p:nvPr>
        </p:nvGraphicFramePr>
        <p:xfrm>
          <a:off x="838200" y="1825625"/>
          <a:ext cx="10848975" cy="2765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548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C554-5EB2-2825-E1FE-13B3ED9D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ED64B8-DDB8-3014-F883-04066374D6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9010880"/>
              </p:ext>
            </p:extLst>
          </p:nvPr>
        </p:nvGraphicFramePr>
        <p:xfrm>
          <a:off x="838200" y="1825624"/>
          <a:ext cx="10515600" cy="4093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5425">
                  <a:extLst>
                    <a:ext uri="{9D8B030D-6E8A-4147-A177-3AD203B41FA5}">
                      <a16:colId xmlns:a16="http://schemas.microsoft.com/office/drawing/2014/main" val="3912700771"/>
                    </a:ext>
                  </a:extLst>
                </a:gridCol>
                <a:gridCol w="5210175">
                  <a:extLst>
                    <a:ext uri="{9D8B030D-6E8A-4147-A177-3AD203B41FA5}">
                      <a16:colId xmlns:a16="http://schemas.microsoft.com/office/drawing/2014/main" val="1089080851"/>
                    </a:ext>
                  </a:extLst>
                </a:gridCol>
              </a:tblGrid>
              <a:tr h="584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263255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Fund 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Fund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5889099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NAV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156862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Investor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861502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Benchmark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Market Comparison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877633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Holdings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Portfolio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267205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SIP Inflows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Investment Trends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82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992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0856B-424B-09E4-8FD0-3D481660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403224"/>
            <a:ext cx="10515600" cy="1325563"/>
          </a:xfrm>
        </p:spPr>
        <p:txBody>
          <a:bodyPr/>
          <a:lstStyle/>
          <a:p>
            <a:r>
              <a:rPr lang="en-IN" dirty="0"/>
              <a:t>Performance Analytics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81BE4-39BE-CF65-3AF9-8688B740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413" y="1728787"/>
            <a:ext cx="518160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Key Metrics Calculated</a:t>
            </a:r>
          </a:p>
          <a:p>
            <a:endParaRPr lang="en-US" dirty="0"/>
          </a:p>
          <a:p>
            <a:r>
              <a:rPr lang="en-US" dirty="0"/>
              <a:t>• Alpha</a:t>
            </a:r>
          </a:p>
          <a:p>
            <a:r>
              <a:rPr lang="en-US" dirty="0"/>
              <a:t>  Measures excess return over benchmark</a:t>
            </a:r>
          </a:p>
          <a:p>
            <a:endParaRPr lang="en-US" dirty="0"/>
          </a:p>
          <a:p>
            <a:r>
              <a:rPr lang="en-US" dirty="0"/>
              <a:t>• Beta</a:t>
            </a:r>
          </a:p>
          <a:p>
            <a:r>
              <a:rPr lang="en-US" dirty="0"/>
              <a:t>  Measures market sensitivity</a:t>
            </a:r>
          </a:p>
          <a:p>
            <a:endParaRPr lang="en-US" dirty="0"/>
          </a:p>
          <a:p>
            <a:r>
              <a:rPr lang="en-US" dirty="0"/>
              <a:t>• Sharpe Ratio</a:t>
            </a:r>
          </a:p>
          <a:p>
            <a:r>
              <a:rPr lang="en-US" dirty="0"/>
              <a:t>  Measures risk-adjusted return</a:t>
            </a:r>
          </a:p>
          <a:p>
            <a:endParaRPr lang="en-US" dirty="0"/>
          </a:p>
          <a:p>
            <a:r>
              <a:rPr lang="en-US" dirty="0"/>
              <a:t>• Benchmark Comparison</a:t>
            </a:r>
          </a:p>
          <a:p>
            <a:r>
              <a:rPr lang="en-US" dirty="0"/>
              <a:t>  Compares fund performance against market indices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65E733-05FC-5BEE-71D3-3D6E3E9FA5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1" y="279399"/>
            <a:ext cx="6629399" cy="3320257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2EEAA6-A482-06DE-5637-71D15E6D4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2" y="3723482"/>
            <a:ext cx="6629398" cy="301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30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F08AD-E274-540F-D806-24F19F0E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DC675-3488-5CD5-5ACB-992B3FE55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707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Risk Measures Implemented</a:t>
            </a:r>
          </a:p>
          <a:p>
            <a:endParaRPr lang="en-IN" dirty="0"/>
          </a:p>
          <a:p>
            <a:r>
              <a:rPr lang="en-IN" dirty="0"/>
              <a:t>• Value at Risk (</a:t>
            </a:r>
            <a:r>
              <a:rPr lang="en-IN" dirty="0" err="1"/>
              <a:t>VaR</a:t>
            </a:r>
            <a:r>
              <a:rPr lang="en-IN" dirty="0"/>
              <a:t>)</a:t>
            </a:r>
          </a:p>
          <a:p>
            <a:r>
              <a:rPr lang="en-IN" dirty="0"/>
              <a:t>• Conditional </a:t>
            </a:r>
            <a:r>
              <a:rPr lang="en-IN" dirty="0" err="1"/>
              <a:t>VaR</a:t>
            </a:r>
            <a:r>
              <a:rPr lang="en-IN" dirty="0"/>
              <a:t> (CVaR)</a:t>
            </a:r>
          </a:p>
          <a:p>
            <a:r>
              <a:rPr lang="en-IN" dirty="0"/>
              <a:t>• HHI Concentration Analysis</a:t>
            </a:r>
          </a:p>
          <a:p>
            <a:endParaRPr lang="en-IN" dirty="0"/>
          </a:p>
          <a:p>
            <a:r>
              <a:rPr lang="en-IN" dirty="0"/>
              <a:t>Outputs:</a:t>
            </a:r>
          </a:p>
          <a:p>
            <a:r>
              <a:rPr lang="en-IN" dirty="0"/>
              <a:t>• var_cvar_report.csv</a:t>
            </a:r>
          </a:p>
          <a:p>
            <a:r>
              <a:rPr lang="en-IN" dirty="0"/>
              <a:t>• hhi_concentration_report.csv</a:t>
            </a:r>
          </a:p>
          <a:p>
            <a:endParaRPr lang="en-IN" dirty="0"/>
          </a:p>
          <a:p>
            <a:r>
              <a:rPr lang="en-US" dirty="0"/>
              <a:t>Goal:</a:t>
            </a:r>
          </a:p>
          <a:p>
            <a:r>
              <a:rPr lang="en-US" dirty="0"/>
              <a:t>Measure downside risk and portfolio concentration.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8038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AED44-C540-6024-9DAF-7B94A2FF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45255"/>
            <a:ext cx="10515600" cy="1325563"/>
          </a:xfrm>
        </p:spPr>
        <p:txBody>
          <a:bodyPr/>
          <a:lstStyle/>
          <a:p>
            <a:r>
              <a:rPr lang="en-IN" dirty="0"/>
              <a:t>Investor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43E56-7395-C187-0354-9F818A9FC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63675"/>
            <a:ext cx="10515600" cy="414655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Analyses Performed</a:t>
            </a:r>
          </a:p>
          <a:p>
            <a:endParaRPr lang="en-US" dirty="0"/>
          </a:p>
          <a:p>
            <a:r>
              <a:rPr lang="en-US" dirty="0"/>
              <a:t>• Cohort Analysis</a:t>
            </a:r>
          </a:p>
          <a:p>
            <a:r>
              <a:rPr lang="en-US" dirty="0"/>
              <a:t>  Groups investors based on their first investment period.</a:t>
            </a:r>
          </a:p>
          <a:p>
            <a:endParaRPr lang="en-US" dirty="0"/>
          </a:p>
          <a:p>
            <a:r>
              <a:rPr lang="en-US" dirty="0"/>
              <a:t>• SIP Continuity Analysis</a:t>
            </a:r>
          </a:p>
          <a:p>
            <a:r>
              <a:rPr lang="en-US" dirty="0"/>
              <a:t>  Measures consistency of SIP investments over time.</a:t>
            </a:r>
          </a:p>
          <a:p>
            <a:endParaRPr lang="en-US" dirty="0"/>
          </a:p>
          <a:p>
            <a:r>
              <a:rPr lang="en-US" dirty="0"/>
              <a:t>Key Insights</a:t>
            </a:r>
          </a:p>
          <a:p>
            <a:endParaRPr lang="en-US" dirty="0"/>
          </a:p>
          <a:p>
            <a:r>
              <a:rPr lang="en-US" dirty="0"/>
              <a:t>• Investor activity is highest during initial months.</a:t>
            </a:r>
          </a:p>
          <a:p>
            <a:r>
              <a:rPr lang="en-US" dirty="0"/>
              <a:t>• Retention decreases gradually over time.</a:t>
            </a:r>
          </a:p>
          <a:p>
            <a:r>
              <a:rPr lang="en-US" dirty="0"/>
              <a:t>• Long-term investors contribute significantly to fund stability.</a:t>
            </a:r>
          </a:p>
          <a:p>
            <a:r>
              <a:rPr lang="en-US" dirty="0"/>
              <a:t>• SIP continuity helps identify loyal investors.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4B0664-B273-B7A1-F06F-FD0CE90EB156}"/>
              </a:ext>
            </a:extLst>
          </p:cNvPr>
          <p:cNvSpPr/>
          <p:nvPr/>
        </p:nvSpPr>
        <p:spPr>
          <a:xfrm>
            <a:off x="333375" y="5610225"/>
            <a:ext cx="8172450" cy="11096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Insight:</a:t>
            </a:r>
          </a:p>
          <a:p>
            <a:pPr algn="ctr"/>
            <a:r>
              <a:rPr lang="en-US" dirty="0"/>
              <a:t>Investor retention and SIP continuity are critical indicators of long-term mutual fund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110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2A6B-C416-81AB-5FE6-74EB6AC1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Fund Recommendation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F4181-2419-5C98-70CA-9FFE38C0A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Developed using Python</a:t>
            </a:r>
          </a:p>
          <a:p>
            <a:endParaRPr lang="en-US" dirty="0"/>
          </a:p>
          <a:p>
            <a:r>
              <a:rPr lang="en-US" dirty="0"/>
              <a:t>Input:</a:t>
            </a:r>
          </a:p>
          <a:p>
            <a:r>
              <a:rPr lang="en-US" dirty="0"/>
              <a:t>• Fund Scorecard</a:t>
            </a:r>
          </a:p>
          <a:p>
            <a:r>
              <a:rPr lang="en-US" dirty="0"/>
              <a:t>• Risk Metrics</a:t>
            </a:r>
          </a:p>
          <a:p>
            <a:r>
              <a:rPr lang="en-US" dirty="0"/>
              <a:t>• Sharpe Ratio</a:t>
            </a:r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US" dirty="0"/>
              <a:t>Top-ranked mutual funds based on</a:t>
            </a:r>
          </a:p>
          <a:p>
            <a:r>
              <a:rPr lang="en-US" dirty="0"/>
              <a:t>risk-adjusted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249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D5BB45-2D67-617D-BF0F-8E69843D4EAE}"/>
              </a:ext>
            </a:extLst>
          </p:cNvPr>
          <p:cNvSpPr txBox="1"/>
          <p:nvPr/>
        </p:nvSpPr>
        <p:spPr>
          <a:xfrm>
            <a:off x="22844" y="0"/>
            <a:ext cx="48637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Power BI Dashboard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2C387F9-7B48-934D-008C-743E342DC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816" y="546915"/>
            <a:ext cx="6118225" cy="2759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BF8324-52B1-B347-85DD-96111579EF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564" y="510737"/>
            <a:ext cx="6096000" cy="27937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1E9615-F19B-C5E6-6152-9686F95D3F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46" y="3323308"/>
            <a:ext cx="6073155" cy="2793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312252-1AB7-B4D7-4CC0-208D54E672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409" y="3375607"/>
            <a:ext cx="6073155" cy="27587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5B0434-63AA-66A9-4BAF-FDE55CCDEBB6}"/>
              </a:ext>
            </a:extLst>
          </p:cNvPr>
          <p:cNvSpPr txBox="1"/>
          <p:nvPr/>
        </p:nvSpPr>
        <p:spPr>
          <a:xfrm>
            <a:off x="-26317" y="6027003"/>
            <a:ext cx="91703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Business Impact:</a:t>
            </a:r>
          </a:p>
          <a:p>
            <a:r>
              <a:rPr lang="en-US" sz="1200" dirty="0"/>
              <a:t>• Interactive fund performance monitoring</a:t>
            </a:r>
          </a:p>
          <a:p>
            <a:r>
              <a:rPr lang="en-US" sz="1200" dirty="0"/>
              <a:t>• Investor segmentation and demographic analysis</a:t>
            </a:r>
          </a:p>
          <a:p>
            <a:r>
              <a:rPr lang="en-US" sz="1200" dirty="0"/>
              <a:t>• Market trend tracking and decision support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668880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18AA-84D2-2869-8EA0-36801740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114300"/>
            <a:ext cx="10515600" cy="909638"/>
          </a:xfrm>
        </p:spPr>
        <p:txBody>
          <a:bodyPr/>
          <a:lstStyle/>
          <a:p>
            <a:r>
              <a:rPr lang="en-IN" dirty="0"/>
              <a:t>Project Outcomes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50446-29EA-006D-9FA7-6298B5861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0025" y="1168400"/>
            <a:ext cx="5181600" cy="4232275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Key Achievements</a:t>
            </a:r>
          </a:p>
          <a:p>
            <a:endParaRPr lang="en-IN" dirty="0"/>
          </a:p>
          <a:p>
            <a:r>
              <a:rPr lang="en-IN" dirty="0"/>
              <a:t>✓ Data Cleaning &amp; Validation</a:t>
            </a:r>
          </a:p>
          <a:p>
            <a:endParaRPr lang="en-IN" dirty="0"/>
          </a:p>
          <a:p>
            <a:r>
              <a:rPr lang="en-IN" dirty="0"/>
              <a:t>✓ SQLite Database Development</a:t>
            </a:r>
          </a:p>
          <a:p>
            <a:endParaRPr lang="en-IN" dirty="0"/>
          </a:p>
          <a:p>
            <a:r>
              <a:rPr lang="en-IN" dirty="0"/>
              <a:t>✓ Performance Analytics</a:t>
            </a:r>
          </a:p>
          <a:p>
            <a:endParaRPr lang="en-IN" dirty="0"/>
          </a:p>
          <a:p>
            <a:r>
              <a:rPr lang="en-IN" dirty="0"/>
              <a:t>✓ Risk Analytics (Alpha, Beta, </a:t>
            </a:r>
            <a:r>
              <a:rPr lang="en-IN" dirty="0" err="1"/>
              <a:t>VaR</a:t>
            </a:r>
            <a:r>
              <a:rPr lang="en-IN" dirty="0"/>
              <a:t>, CVaR)</a:t>
            </a:r>
          </a:p>
          <a:p>
            <a:endParaRPr lang="en-IN" dirty="0"/>
          </a:p>
          <a:p>
            <a:r>
              <a:rPr lang="en-IN" dirty="0"/>
              <a:t>✓ Investor Analytics</a:t>
            </a:r>
          </a:p>
          <a:p>
            <a:endParaRPr lang="en-IN" dirty="0"/>
          </a:p>
          <a:p>
            <a:r>
              <a:rPr lang="en-IN" dirty="0"/>
              <a:t>✓ Recommendation Engine</a:t>
            </a:r>
          </a:p>
          <a:p>
            <a:endParaRPr lang="en-IN" dirty="0"/>
          </a:p>
          <a:p>
            <a:r>
              <a:rPr lang="en-IN" dirty="0"/>
              <a:t>✓ Power BI Dashboard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79E95-39EA-7A84-2B96-5C9ECE1CD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725" y="1168400"/>
            <a:ext cx="5181600" cy="4351338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Business Impact</a:t>
            </a:r>
          </a:p>
          <a:p>
            <a:endParaRPr lang="en-US" dirty="0"/>
          </a:p>
          <a:p>
            <a:r>
              <a:rPr lang="en-US" dirty="0"/>
              <a:t>• Better fund performance evaluation</a:t>
            </a:r>
          </a:p>
          <a:p>
            <a:endParaRPr lang="en-US" dirty="0"/>
          </a:p>
          <a:p>
            <a:r>
              <a:rPr lang="en-US" dirty="0"/>
              <a:t>• Improved risk assessment</a:t>
            </a:r>
          </a:p>
          <a:p>
            <a:endParaRPr lang="en-US" dirty="0"/>
          </a:p>
          <a:p>
            <a:r>
              <a:rPr lang="en-US" dirty="0"/>
              <a:t>• Investor retention insights</a:t>
            </a:r>
          </a:p>
          <a:p>
            <a:endParaRPr lang="en-US" dirty="0"/>
          </a:p>
          <a:p>
            <a:r>
              <a:rPr lang="en-US" dirty="0"/>
              <a:t>• Data-driven decision making</a:t>
            </a:r>
          </a:p>
          <a:p>
            <a:endParaRPr lang="en-US" dirty="0"/>
          </a:p>
          <a:p>
            <a:r>
              <a:rPr lang="en-US" dirty="0"/>
              <a:t>• Interactive business reporting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E97EB-56AE-BF12-F3F8-685B17C63CCC}"/>
              </a:ext>
            </a:extLst>
          </p:cNvPr>
          <p:cNvSpPr txBox="1"/>
          <p:nvPr/>
        </p:nvSpPr>
        <p:spPr>
          <a:xfrm>
            <a:off x="266700" y="5400675"/>
            <a:ext cx="103727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Mutual Fund Performance, Risk &amp; Investor Analytics Platform</a:t>
            </a:r>
          </a:p>
          <a:p>
            <a:endParaRPr lang="en-US" sz="1400" dirty="0"/>
          </a:p>
          <a:p>
            <a:r>
              <a:rPr lang="en-US" sz="1400" dirty="0"/>
              <a:t>Thank You</a:t>
            </a:r>
          </a:p>
          <a:p>
            <a:endParaRPr lang="en-US" sz="1400" dirty="0"/>
          </a:p>
          <a:p>
            <a:r>
              <a:rPr lang="en-US" sz="1400" dirty="0"/>
              <a:t>Questions?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1887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400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Mutual Fund Performance, Risk &amp; Investor Analytics Platform</vt:lpstr>
      <vt:lpstr>Problem Statement</vt:lpstr>
      <vt:lpstr>Project Architecture</vt:lpstr>
      <vt:lpstr>Dataset Overview</vt:lpstr>
      <vt:lpstr>Performance Analytics</vt:lpstr>
      <vt:lpstr>Risk Analytics</vt:lpstr>
      <vt:lpstr>Investor Analytics</vt:lpstr>
      <vt:lpstr>Fund Recommendation Engine</vt:lpstr>
      <vt:lpstr>PowerPoint Presentation</vt:lpstr>
      <vt:lpstr>Project Outcomes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Ashutosh Suryawanshi</dc:creator>
  <cp:lastModifiedBy>Ashutosh Suryawanshi</cp:lastModifiedBy>
  <cp:revision>3</cp:revision>
  <dcterms:created xsi:type="dcterms:W3CDTF">2026-06-10T19:33:17Z</dcterms:created>
  <dcterms:modified xsi:type="dcterms:W3CDTF">2026-06-10T20:37:57Z</dcterms:modified>
</cp:coreProperties>
</file>